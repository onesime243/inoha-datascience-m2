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Garet Bold" charset="1" panose="00000000000000000000"/>
      <p:regular r:id="rId43"/>
    </p:embeddedFont>
    <p:embeddedFont>
      <p:font typeface="Garet" charset="1" panose="0000000000000000000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04787"/>
            <a:ext cx="10826857" cy="191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7400" spc="-148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Formation Machine Learning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379460"/>
            <a:ext cx="4465242" cy="87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3199" spc="-31">
                <a:solidFill>
                  <a:srgbClr val="A6A6A6"/>
                </a:solidFill>
                <a:latin typeface="Garet"/>
                <a:ea typeface="Garet"/>
                <a:cs typeface="Garet"/>
                <a:sym typeface="Garet"/>
              </a:rPr>
              <a:t>Onesime Mbulayi</a:t>
            </a:r>
          </a:p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3199" spc="-31">
                <a:solidFill>
                  <a:srgbClr val="A6A6A6"/>
                </a:solidFill>
                <a:latin typeface="Garet"/>
                <a:ea typeface="Garet"/>
                <a:cs typeface="Garet"/>
                <a:sym typeface="Garet"/>
              </a:rPr>
              <a:t>Le Coach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792987"/>
            <a:ext cx="6452887" cy="59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b="true" sz="4410" spc="-88">
                <a:solidFill>
                  <a:srgbClr val="7ED4FE"/>
                </a:solidFill>
                <a:latin typeface="Garet Bold"/>
                <a:ea typeface="Garet Bold"/>
                <a:cs typeface="Garet Bold"/>
                <a:sym typeface="Garet Bold"/>
              </a:rPr>
              <a:t>Niveau Intermédiaire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1339378" y="1567581"/>
            <a:ext cx="6277726" cy="6357191"/>
          </a:xfrm>
          <a:custGeom>
            <a:avLst/>
            <a:gdLst/>
            <a:ahLst/>
            <a:cxnLst/>
            <a:rect r="r" b="b" t="t" l="l"/>
            <a:pathLst>
              <a:path h="6357191" w="6277726">
                <a:moveTo>
                  <a:pt x="6277726" y="0"/>
                </a:moveTo>
                <a:lnTo>
                  <a:pt x="0" y="0"/>
                </a:lnTo>
                <a:lnTo>
                  <a:pt x="0" y="6357191"/>
                </a:lnTo>
                <a:lnTo>
                  <a:pt x="6277726" y="6357191"/>
                </a:lnTo>
                <a:lnTo>
                  <a:pt x="6277726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62306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Ap</a:t>
            </a: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erçu de Data Mining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95623" y="2388131"/>
            <a:ext cx="15554971" cy="636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7400" indent="-383700" lvl="1">
              <a:lnSpc>
                <a:spcPts val="8566"/>
              </a:lnSpc>
              <a:buFont typeface="Arial"/>
              <a:buChar char="•"/>
            </a:pPr>
            <a:r>
              <a:rPr lang="en-US" sz="35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Qu'es</a:t>
            </a:r>
            <a:r>
              <a:rPr lang="en-US" sz="35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t-ce que l'exploration de données ?</a:t>
            </a:r>
          </a:p>
          <a:p>
            <a:pPr algn="l" marL="767400" indent="-383700" lvl="1">
              <a:lnSpc>
                <a:spcPts val="8566"/>
              </a:lnSpc>
              <a:buFont typeface="Arial"/>
              <a:buChar char="•"/>
            </a:pPr>
            <a:r>
              <a:rPr lang="en-US" sz="35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Qu'est-ce qui rend la prédiction possible ?</a:t>
            </a:r>
          </a:p>
          <a:p>
            <a:pPr algn="l" marL="767400" indent="-383700" lvl="1">
              <a:lnSpc>
                <a:spcPts val="8566"/>
              </a:lnSpc>
              <a:buFont typeface="Arial"/>
              <a:buChar char="•"/>
            </a:pPr>
            <a:r>
              <a:rPr lang="en-US" sz="35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L'exploration de données comme apprentissage automatique appliqué</a:t>
            </a:r>
          </a:p>
          <a:p>
            <a:pPr algn="l" marL="767400" indent="-383700" lvl="1">
              <a:lnSpc>
                <a:spcPts val="8566"/>
              </a:lnSpc>
              <a:buFont typeface="Arial"/>
              <a:buChar char="•"/>
            </a:pPr>
            <a:r>
              <a:rPr lang="en-US" sz="35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Supervised Learning </a:t>
            </a:r>
          </a:p>
          <a:p>
            <a:pPr algn="l" marL="767400" indent="-383700" lvl="1">
              <a:lnSpc>
                <a:spcPts val="8566"/>
              </a:lnSpc>
              <a:buFont typeface="Arial"/>
              <a:buChar char="•"/>
            </a:pPr>
            <a:r>
              <a:rPr lang="en-US" sz="35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Unsupervised Learning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65379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Formation en</a:t>
            </a: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  Machine Learning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93603" y="2614857"/>
            <a:ext cx="13837623" cy="501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8526" indent="-459263" lvl="1">
              <a:lnSpc>
                <a:spcPts val="10253"/>
              </a:lnSpc>
              <a:buFont typeface="Arial"/>
              <a:buChar char="•"/>
            </a:pPr>
            <a:r>
              <a:rPr lang="en-US" sz="42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Programmation en Python</a:t>
            </a:r>
          </a:p>
          <a:p>
            <a:pPr algn="l" marL="918526" indent="-459263" lvl="1">
              <a:lnSpc>
                <a:spcPts val="10253"/>
              </a:lnSpc>
              <a:buFont typeface="Arial"/>
              <a:buChar char="•"/>
            </a:pPr>
            <a:r>
              <a:rPr lang="en-US" sz="42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Plus ciblé</a:t>
            </a:r>
          </a:p>
          <a:p>
            <a:pPr algn="l" marL="918526" indent="-459263" lvl="1">
              <a:lnSpc>
                <a:spcPts val="10253"/>
              </a:lnSpc>
              <a:buFont typeface="Arial"/>
              <a:buChar char="•"/>
            </a:pPr>
            <a:r>
              <a:rPr lang="en-US" sz="42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Plus de détails techniques</a:t>
            </a:r>
          </a:p>
          <a:p>
            <a:pPr algn="l" marL="918526" indent="-459263" lvl="1">
              <a:lnSpc>
                <a:spcPts val="10253"/>
              </a:lnSpc>
              <a:buFont typeface="Arial"/>
              <a:buChar char="•"/>
            </a:pPr>
            <a:r>
              <a:rPr lang="en-US" sz="42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Exercices pratiques avec Python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65379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What i</a:t>
            </a: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s Data Mining?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8047" y="2083427"/>
            <a:ext cx="15231906" cy="678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122"/>
              </a:lnSpc>
            </a:pPr>
            <a:r>
              <a:rPr lang="en-US" sz="40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« L’explor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ation de d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nées est 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 processus informatique de découverte de modèles dans de grands ensemb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donné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faisant appel à des méthodes à l’intersection de 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’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intelligence a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rtifi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ci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elle, d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 l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’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pp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ssa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 automatique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 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statisti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que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et des sys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èmes de 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base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 donné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es.</a:t>
            </a:r>
            <a:r>
              <a:rPr lang="en-US" sz="40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»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65379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What i</a:t>
            </a: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s Data Mining?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102522" y="3577545"/>
            <a:ext cx="14009574" cy="4798279"/>
          </a:xfrm>
          <a:custGeom>
            <a:avLst/>
            <a:gdLst/>
            <a:ahLst/>
            <a:cxnLst/>
            <a:rect r="r" b="b" t="t" l="l"/>
            <a:pathLst>
              <a:path h="4798279" w="14009574">
                <a:moveTo>
                  <a:pt x="0" y="0"/>
                </a:moveTo>
                <a:lnTo>
                  <a:pt x="14009575" y="0"/>
                </a:lnTo>
                <a:lnTo>
                  <a:pt x="14009575" y="4798279"/>
                </a:lnTo>
                <a:lnTo>
                  <a:pt x="0" y="4798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65379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Related Scientific</a:t>
            </a: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 Disciplines: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6634" y="2407514"/>
            <a:ext cx="15231906" cy="6709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0579" indent="-405289" lvl="1">
              <a:lnSpc>
                <a:spcPts val="9048"/>
              </a:lnSpc>
              <a:buFont typeface="Arial"/>
              <a:buChar char="•"/>
            </a:pPr>
            <a:r>
              <a:rPr lang="en-US" b="true" sz="3754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Statistiques</a:t>
            </a:r>
            <a:r>
              <a:rPr lang="en-US" sz="37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: branche des mathématiques axée sur les données.</a:t>
            </a:r>
          </a:p>
          <a:p>
            <a:pPr algn="l" marL="810579" indent="-405289" lvl="1">
              <a:lnSpc>
                <a:spcPts val="9048"/>
              </a:lnSpc>
              <a:buFont typeface="Arial"/>
              <a:buChar char="•"/>
            </a:pPr>
            <a:r>
              <a:rPr lang="en-US" b="true" sz="3754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Machine Learning</a:t>
            </a:r>
            <a:r>
              <a:rPr lang="en-US" sz="37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: branche de l’informatique étudiant l’apprentissage à partir des données.</a:t>
            </a:r>
          </a:p>
          <a:p>
            <a:pPr algn="l" marL="810579" indent="-405289" lvl="1">
              <a:lnSpc>
                <a:spcPts val="9048"/>
              </a:lnSpc>
              <a:buFont typeface="Arial"/>
              <a:buChar char="•"/>
            </a:pPr>
            <a:r>
              <a:rPr lang="en-US" b="true" sz="3754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Intelligence artificielle :</a:t>
            </a:r>
            <a:r>
              <a:rPr lang="en-US" sz="37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domaine interdisciplinaire visant à développer des machines intelligentes.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65379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7200" spc="-14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spects clés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34994"/>
            <a:ext cx="16537964" cy="609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221" indent="-362110" lvl="1">
              <a:lnSpc>
                <a:spcPts val="8084"/>
              </a:lnSpc>
              <a:buFont typeface="Arial"/>
              <a:buChar char="•"/>
            </a:pPr>
            <a:r>
              <a:rPr lang="en-US" b="true" sz="3354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Compromis entre temps de traitement et mémoire</a:t>
            </a:r>
            <a:r>
              <a:rPr lang="en-US" sz="33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pour le calcul et les grands ensembles de données</a:t>
            </a:r>
          </a:p>
          <a:p>
            <a:pPr algn="l" marL="724221" indent="-362110" lvl="1">
              <a:lnSpc>
                <a:spcPts val="5266"/>
              </a:lnSpc>
              <a:buFont typeface="Arial"/>
              <a:buChar char="•"/>
            </a:pPr>
            <a:r>
              <a:rPr lang="en-US" b="true" sz="3354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Le calcul permet l'analyse de grands ensembles de données</a:t>
            </a:r>
            <a:r>
              <a:rPr lang="en-US" sz="33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: l'ordinateur comme outil face à l'augmentation constante du volume de données</a:t>
            </a:r>
          </a:p>
          <a:p>
            <a:pPr algn="l" marL="724221" indent="-362110" lvl="1">
              <a:lnSpc>
                <a:spcPts val="5266"/>
              </a:lnSpc>
              <a:buFont typeface="Arial"/>
              <a:buChar char="•"/>
            </a:pPr>
            <a:r>
              <a:rPr lang="en-US" b="true" sz="3354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L'exploration de données implique souvent la découverte de données</a:t>
            </a:r>
            <a:r>
              <a:rPr lang="en-US" sz="3354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dans les bases de données, depuis les données non structurées jusqu'aux connaissances structurées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653796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900" spc="-98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Que</a:t>
            </a:r>
            <a:r>
              <a:rPr lang="en-US" b="true" sz="4900" spc="-98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 sont les</a:t>
            </a:r>
            <a:r>
              <a:rPr lang="en-US" b="true" sz="4900" spc="-98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 données volumineuses ou le big data 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97896" y="1899779"/>
            <a:ext cx="15159383" cy="750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b="true" sz="316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Volume</a:t>
            </a:r>
          </a:p>
          <a:p>
            <a:pPr algn="l">
              <a:lnSpc>
                <a:spcPts val="4962"/>
              </a:lnSpc>
            </a:pP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Trop important pour une analyse manuelle</a:t>
            </a:r>
          </a:p>
          <a:p>
            <a:pPr algn="l">
              <a:lnSpc>
                <a:spcPts val="4962"/>
              </a:lnSpc>
            </a:pP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Trop important pour tenir dans la RAM</a:t>
            </a:r>
          </a:p>
          <a:p>
            <a:pPr algn="l">
              <a:lnSpc>
                <a:spcPts val="4962"/>
              </a:lnSpc>
            </a:pP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Trop important pour être stocké sur disque</a:t>
            </a:r>
          </a:p>
          <a:p>
            <a:pPr algn="l">
              <a:lnSpc>
                <a:spcPts val="4962"/>
              </a:lnSpc>
            </a:pPr>
            <a:r>
              <a:rPr lang="en-US" b="true" sz="316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Variété</a:t>
            </a:r>
          </a:p>
          <a:p>
            <a:pPr algn="l">
              <a:lnSpc>
                <a:spcPts val="4962"/>
              </a:lnSpc>
            </a:pP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Plage de valeurs : variance</a:t>
            </a:r>
          </a:p>
          <a:p>
            <a:pPr algn="l">
              <a:lnSpc>
                <a:spcPts val="4962"/>
              </a:lnSpc>
            </a:pP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Valeurs aberrantes, facteurs de confusion et bruit</a:t>
            </a:r>
          </a:p>
          <a:p>
            <a:pPr algn="l">
              <a:lnSpc>
                <a:spcPts val="4962"/>
              </a:lnSpc>
            </a:pP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Interactions, données codépendantes</a:t>
            </a:r>
          </a:p>
          <a:p>
            <a:pPr algn="l">
              <a:lnSpc>
                <a:spcPts val="4962"/>
              </a:lnSpc>
            </a:pPr>
            <a:r>
              <a:rPr lang="en-US" b="true" sz="316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Vitesse</a:t>
            </a:r>
          </a:p>
          <a:p>
            <a:pPr algn="l">
              <a:lnSpc>
                <a:spcPts val="4962"/>
              </a:lnSpc>
            </a:pP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Les données évoluent rapidement : résultats requis avant que les données ne changent</a:t>
            </a:r>
          </a:p>
          <a:p>
            <a:pPr algn="l">
              <a:lnSpc>
                <a:spcPts val="4962"/>
              </a:lnSpc>
            </a:pP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Flux de données (pas de stockage)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65379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Intr</a:t>
            </a: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oduction à Data Mining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55408" y="4336994"/>
            <a:ext cx="15159383" cy="184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31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Mining</a:t>
            </a: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est une forme de machine Learning appl</a:t>
            </a:r>
            <a:r>
              <a:rPr lang="en-US" sz="31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iqué </a:t>
            </a: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r>
              <a:rPr lang="en-US" sz="31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elle</a:t>
            </a: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requiert des compétences e</a:t>
            </a:r>
            <a:r>
              <a:rPr lang="en-US" sz="31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t, co</a:t>
            </a: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mme p</a:t>
            </a:r>
            <a:r>
              <a:rPr lang="en-US" sz="31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our </a:t>
            </a: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plupart des compétences, elle s'améliore avec la p</a:t>
            </a:r>
            <a:r>
              <a:rPr lang="en-US" sz="31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</a:t>
            </a: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tiqu</a:t>
            </a:r>
            <a:r>
              <a:rPr lang="en-US" sz="31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et l'expérience.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192101"/>
            <a:ext cx="5803793" cy="2910074"/>
          </a:xfrm>
          <a:custGeom>
            <a:avLst/>
            <a:gdLst/>
            <a:ahLst/>
            <a:cxnLst/>
            <a:rect r="r" b="b" t="t" l="l"/>
            <a:pathLst>
              <a:path h="2910074" w="5803793">
                <a:moveTo>
                  <a:pt x="0" y="0"/>
                </a:moveTo>
                <a:lnTo>
                  <a:pt x="5803793" y="0"/>
                </a:lnTo>
                <a:lnTo>
                  <a:pt x="5803793" y="2910074"/>
                </a:lnTo>
                <a:lnTo>
                  <a:pt x="0" y="291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472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65379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Appli</a:t>
            </a: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cation de data mining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1662" y="2485059"/>
            <a:ext cx="7592851" cy="58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b="true" sz="316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</a:t>
            </a:r>
            <a:r>
              <a:rPr lang="en-US" b="true" sz="316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b="true" sz="316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316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nies:</a:t>
            </a:r>
            <a:r>
              <a:rPr lang="en-US" b="true" sz="316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1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</a:t>
            </a: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usiness In</a:t>
            </a:r>
            <a:r>
              <a:rPr lang="en-US" sz="31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</a:t>
            </a: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7682" y="2313258"/>
            <a:ext cx="7592851" cy="58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b="true" sz="316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Sc</a:t>
            </a:r>
            <a:r>
              <a:rPr lang="en-US" b="true" sz="316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ience: </a:t>
            </a:r>
            <a:r>
              <a:rPr lang="en-US" sz="31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Knowledge Discovery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1662" y="6140275"/>
            <a:ext cx="7592851" cy="277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361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Analyse et gestion du marché</a:t>
            </a:r>
          </a:p>
          <a:p>
            <a:pPr algn="l" marL="509769" indent="-254885" lvl="1">
              <a:lnSpc>
                <a:spcPts val="3706"/>
              </a:lnSpc>
              <a:buFont typeface="Arial"/>
              <a:buChar char="•"/>
            </a:pPr>
            <a:r>
              <a:rPr lang="en-US" sz="23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Marketing ciblé, gestion de la relation client</a:t>
            </a:r>
          </a:p>
          <a:p>
            <a:pPr algn="l" marL="509769" indent="-254885" lvl="1">
              <a:lnSpc>
                <a:spcPts val="3706"/>
              </a:lnSpc>
              <a:buFont typeface="Arial"/>
              <a:buChar char="•"/>
            </a:pPr>
            <a:r>
              <a:rPr lang="en-US" sz="23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Analyse et gestion des risques</a:t>
            </a:r>
          </a:p>
          <a:p>
            <a:pPr algn="l" marL="509769" indent="-254885" lvl="1">
              <a:lnSpc>
                <a:spcPts val="3706"/>
              </a:lnSpc>
              <a:buFont typeface="Arial"/>
              <a:buChar char="•"/>
            </a:pPr>
            <a:r>
              <a:rPr lang="en-US" sz="23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Prévisions, fidélisation client, contrôle qualité, analyse concurrentielle</a:t>
            </a:r>
          </a:p>
          <a:p>
            <a:pPr algn="l" marL="509769" indent="-254885" lvl="1">
              <a:lnSpc>
                <a:spcPts val="3706"/>
              </a:lnSpc>
              <a:buFont typeface="Arial"/>
              <a:buChar char="•"/>
            </a:pPr>
            <a:r>
              <a:rPr lang="en-US" sz="23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Détection et gestion des fraudes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2734" y="6034754"/>
            <a:ext cx="7592851" cy="277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361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Analyse et gestion du marché</a:t>
            </a:r>
          </a:p>
          <a:p>
            <a:pPr algn="l" marL="509769" indent="-254885" lvl="1">
              <a:lnSpc>
                <a:spcPts val="3706"/>
              </a:lnSpc>
              <a:buFont typeface="Arial"/>
              <a:buChar char="•"/>
            </a:pPr>
            <a:r>
              <a:rPr lang="en-US" sz="23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Marketing ciblé, gestion de la relation client</a:t>
            </a:r>
          </a:p>
          <a:p>
            <a:pPr algn="l" marL="509769" indent="-254885" lvl="1">
              <a:lnSpc>
                <a:spcPts val="3706"/>
              </a:lnSpc>
              <a:buFont typeface="Arial"/>
              <a:buChar char="•"/>
            </a:pPr>
            <a:r>
              <a:rPr lang="en-US" sz="23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Analyse et gestion des risques</a:t>
            </a:r>
          </a:p>
          <a:p>
            <a:pPr algn="l" marL="509769" indent="-254885" lvl="1">
              <a:lnSpc>
                <a:spcPts val="3706"/>
              </a:lnSpc>
              <a:buFont typeface="Arial"/>
              <a:buChar char="•"/>
            </a:pPr>
            <a:r>
              <a:rPr lang="en-US" sz="23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Prévisions, fidélisation client, contrôle qualité, analyse concurrentielle</a:t>
            </a:r>
          </a:p>
          <a:p>
            <a:pPr algn="l" marL="509769" indent="-254885" lvl="1">
              <a:lnSpc>
                <a:spcPts val="3706"/>
              </a:lnSpc>
              <a:buFont typeface="Arial"/>
              <a:buChar char="•"/>
            </a:pPr>
            <a:r>
              <a:rPr lang="en-US" sz="23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Détection et gestion des fraudes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54410" y="9019429"/>
            <a:ext cx="10061535" cy="90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3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3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xploration de texte (trai</a:t>
            </a:r>
            <a:r>
              <a:rPr lang="en-US" sz="23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tement automatique du langage naturel) :</a:t>
            </a:r>
            <a:r>
              <a:rPr lang="en-US" sz="23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du texte non structuré aux connaissances structurées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909806" y="2898142"/>
            <a:ext cx="4953829" cy="2910074"/>
          </a:xfrm>
          <a:custGeom>
            <a:avLst/>
            <a:gdLst/>
            <a:ahLst/>
            <a:cxnLst/>
            <a:rect r="r" b="b" t="t" l="l"/>
            <a:pathLst>
              <a:path h="2910074" w="4953829">
                <a:moveTo>
                  <a:pt x="0" y="0"/>
                </a:moveTo>
                <a:lnTo>
                  <a:pt x="4953829" y="0"/>
                </a:lnTo>
                <a:lnTo>
                  <a:pt x="4953829" y="2910075"/>
                </a:lnTo>
                <a:lnTo>
                  <a:pt x="0" y="2910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8131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23855" y="2166892"/>
            <a:ext cx="15742809" cy="43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32" indent="-395216" lvl="1">
              <a:lnSpc>
                <a:spcPts val="8859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Associa</a:t>
            </a: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tions entre les carac</a:t>
            </a: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téristiques/la cible</a:t>
            </a:r>
          </a:p>
          <a:p>
            <a:pPr algn="l" marL="790432" indent="-395216" lvl="1">
              <a:lnSpc>
                <a:spcPts val="8859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Numérique : coefficient de corrélation</a:t>
            </a:r>
          </a:p>
          <a:p>
            <a:pPr algn="l" marL="790432" indent="-395216" lvl="1">
              <a:lnSpc>
                <a:spcPts val="8859"/>
              </a:lnSpc>
              <a:buFont typeface="Arial"/>
              <a:buChar char="•"/>
            </a:pP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Catégorique : information mutuelle. La valeur de x1 contient des informations sur la valeur de x2.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864243" y="6672443"/>
            <a:ext cx="11301259" cy="3291492"/>
          </a:xfrm>
          <a:custGeom>
            <a:avLst/>
            <a:gdLst/>
            <a:ahLst/>
            <a:cxnLst/>
            <a:rect r="r" b="b" t="t" l="l"/>
            <a:pathLst>
              <a:path h="3291492" w="11301259">
                <a:moveTo>
                  <a:pt x="0" y="0"/>
                </a:moveTo>
                <a:lnTo>
                  <a:pt x="11301259" y="0"/>
                </a:lnTo>
                <a:lnTo>
                  <a:pt x="11301259" y="3291492"/>
                </a:lnTo>
                <a:lnTo>
                  <a:pt x="0" y="3291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38225"/>
            <a:ext cx="16537964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0"/>
              </a:lnSpc>
              <a:spcBef>
                <a:spcPct val="0"/>
              </a:spcBef>
            </a:pPr>
            <a:r>
              <a:rPr lang="en-US" b="true" sz="5900" spc="-118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Qu'es</a:t>
            </a:r>
            <a:r>
              <a:rPr lang="en-US" b="true" sz="5900" spc="-118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t-ce qui rend la prédi</a:t>
            </a:r>
            <a:r>
              <a:rPr lang="en-US" b="true" sz="5900" spc="-118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ction possible 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36199"/>
            <a:ext cx="11909519" cy="4183218"/>
          </a:xfrm>
          <a:custGeom>
            <a:avLst/>
            <a:gdLst/>
            <a:ahLst/>
            <a:cxnLst/>
            <a:rect r="r" b="b" t="t" l="l"/>
            <a:pathLst>
              <a:path h="4183218" w="11909519">
                <a:moveTo>
                  <a:pt x="0" y="0"/>
                </a:moveTo>
                <a:lnTo>
                  <a:pt x="11909519" y="0"/>
                </a:lnTo>
                <a:lnTo>
                  <a:pt x="11909519" y="4183218"/>
                </a:lnTo>
                <a:lnTo>
                  <a:pt x="0" y="4183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38219" y="4990383"/>
            <a:ext cx="4628446" cy="4814648"/>
          </a:xfrm>
          <a:custGeom>
            <a:avLst/>
            <a:gdLst/>
            <a:ahLst/>
            <a:cxnLst/>
            <a:rect r="r" b="b" t="t" l="l"/>
            <a:pathLst>
              <a:path h="4814648" w="4628446">
                <a:moveTo>
                  <a:pt x="0" y="0"/>
                </a:moveTo>
                <a:lnTo>
                  <a:pt x="4628445" y="0"/>
                </a:lnTo>
                <a:lnTo>
                  <a:pt x="4628445" y="4814648"/>
                </a:lnTo>
                <a:lnTo>
                  <a:pt x="0" y="4814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038256"/>
            <a:ext cx="2554075" cy="2942527"/>
          </a:xfrm>
          <a:custGeom>
            <a:avLst/>
            <a:gdLst/>
            <a:ahLst/>
            <a:cxnLst/>
            <a:rect r="r" b="b" t="t" l="l"/>
            <a:pathLst>
              <a:path h="2942527" w="2554075">
                <a:moveTo>
                  <a:pt x="0" y="0"/>
                </a:moveTo>
                <a:lnTo>
                  <a:pt x="2554075" y="0"/>
                </a:lnTo>
                <a:lnTo>
                  <a:pt x="2554075" y="2942527"/>
                </a:lnTo>
                <a:lnTo>
                  <a:pt x="0" y="2942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28700"/>
            <a:ext cx="165379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Un exemple : Iris da</a:t>
            </a: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taset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14387" y="2561380"/>
            <a:ext cx="12244563" cy="6933484"/>
          </a:xfrm>
          <a:custGeom>
            <a:avLst/>
            <a:gdLst/>
            <a:ahLst/>
            <a:cxnLst/>
            <a:rect r="r" b="b" t="t" l="l"/>
            <a:pathLst>
              <a:path h="6933484" w="12244563">
                <a:moveTo>
                  <a:pt x="0" y="0"/>
                </a:moveTo>
                <a:lnTo>
                  <a:pt x="12244563" y="0"/>
                </a:lnTo>
                <a:lnTo>
                  <a:pt x="12244563" y="6933483"/>
                </a:lnTo>
                <a:lnTo>
                  <a:pt x="0" y="6933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65379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Iris: Sepal Width vs Speci</a:t>
            </a: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1844" y="2512586"/>
            <a:ext cx="14175191" cy="4979036"/>
          </a:xfrm>
          <a:custGeom>
            <a:avLst/>
            <a:gdLst/>
            <a:ahLst/>
            <a:cxnLst/>
            <a:rect r="r" b="b" t="t" l="l"/>
            <a:pathLst>
              <a:path h="4979036" w="14175191">
                <a:moveTo>
                  <a:pt x="0" y="0"/>
                </a:moveTo>
                <a:lnTo>
                  <a:pt x="14175190" y="0"/>
                </a:lnTo>
                <a:lnTo>
                  <a:pt x="14175190" y="4979035"/>
                </a:lnTo>
                <a:lnTo>
                  <a:pt x="0" y="4979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66042" y="7141091"/>
            <a:ext cx="2684023" cy="2842455"/>
          </a:xfrm>
          <a:custGeom>
            <a:avLst/>
            <a:gdLst/>
            <a:ahLst/>
            <a:cxnLst/>
            <a:rect r="r" b="b" t="t" l="l"/>
            <a:pathLst>
              <a:path h="2842455" w="2684023">
                <a:moveTo>
                  <a:pt x="0" y="0"/>
                </a:moveTo>
                <a:lnTo>
                  <a:pt x="2684023" y="0"/>
                </a:lnTo>
                <a:lnTo>
                  <a:pt x="2684023" y="2842455"/>
                </a:lnTo>
                <a:lnTo>
                  <a:pt x="0" y="2842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165379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Iris: Petal Length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72596" y="1945848"/>
            <a:ext cx="15742809" cy="43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32" indent="-395216" lvl="1">
              <a:lnSpc>
                <a:spcPts val="8859"/>
              </a:lnSpc>
              <a:buFont typeface="Arial"/>
              <a:buChar char="•"/>
            </a:pP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Numérateur :</a:t>
            </a:r>
            <a:r>
              <a:rPr lang="en-US" b="true" sz="366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covariance</a:t>
            </a: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 Indique dans quelle mesure les caractéristiques évoluent conjointement.</a:t>
            </a:r>
          </a:p>
          <a:p>
            <a:pPr algn="l" marL="790432" indent="-395216" lvl="1">
              <a:lnSpc>
                <a:spcPts val="8859"/>
              </a:lnSpc>
              <a:buFont typeface="Arial"/>
              <a:buChar char="•"/>
            </a:pP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Dénominateur : </a:t>
            </a:r>
            <a:r>
              <a:rPr lang="en-US" b="true" sz="366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produit des écarts-types</a:t>
            </a: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 Rend les corrélations indépendantes des unités.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493371" y="7093101"/>
            <a:ext cx="11301259" cy="1779948"/>
          </a:xfrm>
          <a:custGeom>
            <a:avLst/>
            <a:gdLst/>
            <a:ahLst/>
            <a:cxnLst/>
            <a:rect r="r" b="b" t="t" l="l"/>
            <a:pathLst>
              <a:path h="1779948" w="11301259">
                <a:moveTo>
                  <a:pt x="0" y="0"/>
                </a:moveTo>
                <a:lnTo>
                  <a:pt x="11301258" y="0"/>
                </a:lnTo>
                <a:lnTo>
                  <a:pt x="11301258" y="1779948"/>
                </a:lnTo>
                <a:lnTo>
                  <a:pt x="0" y="177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165379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Pearson's correlation coefficient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5412" y="3404032"/>
            <a:ext cx="8577682" cy="5854268"/>
          </a:xfrm>
          <a:custGeom>
            <a:avLst/>
            <a:gdLst/>
            <a:ahLst/>
            <a:cxnLst/>
            <a:rect r="r" b="b" t="t" l="l"/>
            <a:pathLst>
              <a:path h="5854268" w="8577682">
                <a:moveTo>
                  <a:pt x="0" y="0"/>
                </a:moveTo>
                <a:lnTo>
                  <a:pt x="8577682" y="0"/>
                </a:lnTo>
                <a:lnTo>
                  <a:pt x="8577682" y="5854268"/>
                </a:lnTo>
                <a:lnTo>
                  <a:pt x="0" y="5854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6537964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Pearson's coefficient de Petal Length par Petal Width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398935" y="4167828"/>
            <a:ext cx="4399775" cy="4659484"/>
          </a:xfrm>
          <a:custGeom>
            <a:avLst/>
            <a:gdLst/>
            <a:ahLst/>
            <a:cxnLst/>
            <a:rect r="r" b="b" t="t" l="l"/>
            <a:pathLst>
              <a:path h="4659484" w="4399775">
                <a:moveTo>
                  <a:pt x="0" y="0"/>
                </a:moveTo>
                <a:lnTo>
                  <a:pt x="4399776" y="0"/>
                </a:lnTo>
                <a:lnTo>
                  <a:pt x="4399776" y="4659484"/>
                </a:lnTo>
                <a:lnTo>
                  <a:pt x="0" y="4659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93611" y="5831128"/>
            <a:ext cx="8032139" cy="3825306"/>
          </a:xfrm>
          <a:custGeom>
            <a:avLst/>
            <a:gdLst/>
            <a:ahLst/>
            <a:cxnLst/>
            <a:rect r="r" b="b" t="t" l="l"/>
            <a:pathLst>
              <a:path h="3825306" w="8032139">
                <a:moveTo>
                  <a:pt x="0" y="0"/>
                </a:moveTo>
                <a:lnTo>
                  <a:pt x="8032139" y="0"/>
                </a:lnTo>
                <a:lnTo>
                  <a:pt x="8032139" y="3825306"/>
                </a:lnTo>
                <a:lnTo>
                  <a:pt x="0" y="3825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81012"/>
            <a:ext cx="1653796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Mises en g</a:t>
            </a: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arde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2596" y="1385888"/>
            <a:ext cx="15742809" cy="422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895" indent="-330448" lvl="1">
              <a:lnSpc>
                <a:spcPts val="5693"/>
              </a:lnSpc>
              <a:buFont typeface="Arial"/>
              <a:buChar char="•"/>
            </a:pPr>
            <a:r>
              <a:rPr lang="en-US" sz="30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 coefficient de Pearson’s corrélation(r) ne mesure que la dépendance linéaire.</a:t>
            </a:r>
          </a:p>
          <a:p>
            <a:pPr algn="l" marL="660895" indent="-330448" lvl="1">
              <a:lnSpc>
                <a:spcPts val="5693"/>
              </a:lnSpc>
              <a:buFont typeface="Arial"/>
              <a:buChar char="•"/>
            </a:pPr>
            <a:r>
              <a:rPr lang="en-US" sz="30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D'autres types de dépendance peuvent également être utilisés pour la prédiction.</a:t>
            </a:r>
          </a:p>
          <a:p>
            <a:pPr algn="l" marL="660895" indent="-330448" lvl="1">
              <a:lnSpc>
                <a:spcPts val="5693"/>
              </a:lnSpc>
              <a:buFont typeface="Arial"/>
              <a:buChar char="•"/>
            </a:pPr>
            <a:r>
              <a:rPr lang="en-US" sz="30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La corrélation n'implique pas la causalité, mais elle peut néanmoins permettre d'effectuer des prédictions.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16460" y="2188038"/>
            <a:ext cx="4350205" cy="7592842"/>
          </a:xfrm>
          <a:custGeom>
            <a:avLst/>
            <a:gdLst/>
            <a:ahLst/>
            <a:cxnLst/>
            <a:rect r="r" b="b" t="t" l="l"/>
            <a:pathLst>
              <a:path h="7592842" w="4350205">
                <a:moveTo>
                  <a:pt x="0" y="0"/>
                </a:moveTo>
                <a:lnTo>
                  <a:pt x="4350204" y="0"/>
                </a:lnTo>
                <a:lnTo>
                  <a:pt x="4350204" y="7592842"/>
                </a:lnTo>
                <a:lnTo>
                  <a:pt x="0" y="7592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6537964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b="true" sz="6000" spc="-120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Qu'es</a:t>
            </a:r>
            <a:r>
              <a:rPr lang="en-US" b="true" sz="6000" spc="-120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t-ce qui rend la prédiction possible 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1731" y="4472246"/>
            <a:ext cx="11832017" cy="202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3"/>
              </a:lnSpc>
            </a:pPr>
            <a:r>
              <a:rPr lang="en-US" sz="366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L'ajusteme</a:t>
            </a:r>
            <a:r>
              <a:rPr lang="en-US" sz="366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nt</a:t>
            </a:r>
            <a:r>
              <a:rPr lang="en-US" sz="36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 des données est facile, mai</a:t>
            </a:r>
            <a:r>
              <a:rPr lang="en-US" sz="366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s les</a:t>
            </a:r>
            <a:r>
              <a:rPr lang="en-US" sz="36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6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préd</a:t>
            </a:r>
            <a:r>
              <a:rPr lang="en-US" sz="36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6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ct</a:t>
            </a:r>
            <a:r>
              <a:rPr lang="en-US" sz="36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6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on</a:t>
            </a:r>
            <a:r>
              <a:rPr lang="en-US" sz="36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s sont difficiles.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94209" y="3627525"/>
            <a:ext cx="11301259" cy="5255085"/>
          </a:xfrm>
          <a:custGeom>
            <a:avLst/>
            <a:gdLst/>
            <a:ahLst/>
            <a:cxnLst/>
            <a:rect r="r" b="b" t="t" l="l"/>
            <a:pathLst>
              <a:path h="5255085" w="11301259">
                <a:moveTo>
                  <a:pt x="0" y="0"/>
                </a:moveTo>
                <a:lnTo>
                  <a:pt x="11301259" y="0"/>
                </a:lnTo>
                <a:lnTo>
                  <a:pt x="11301259" y="5255085"/>
                </a:lnTo>
                <a:lnTo>
                  <a:pt x="0" y="52550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62306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Qu'es</a:t>
            </a:r>
            <a:r>
              <a:rPr lang="en-US" b="true" sz="7200" spc="-144" u="none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t-ce que machine learning?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04490"/>
            <a:ext cx="16230600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 dit qu’u</a:t>
            </a:r>
            <a:r>
              <a:rPr lang="en-US" sz="24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 programme apprend de l’expérience (E) sur une tâche (T) et une mesure de performance (P), si sa performance aux tâches de T, telle que mesurée par P, s’améliore avec 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019770"/>
            <a:ext cx="16859727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Parmi l</a:t>
            </a:r>
            <a:r>
              <a:rPr lang="en-US" sz="2400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es autres formes de Machine Learning, on trouve l'apprentissage semi-supervisé, l'apprentissage par renforcement…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92188" y="2607318"/>
            <a:ext cx="11301259" cy="6286325"/>
          </a:xfrm>
          <a:custGeom>
            <a:avLst/>
            <a:gdLst/>
            <a:ahLst/>
            <a:cxnLst/>
            <a:rect r="r" b="b" t="t" l="l"/>
            <a:pathLst>
              <a:path h="6286325" w="11301259">
                <a:moveTo>
                  <a:pt x="0" y="0"/>
                </a:moveTo>
                <a:lnTo>
                  <a:pt x="11301259" y="0"/>
                </a:lnTo>
                <a:lnTo>
                  <a:pt x="11301259" y="6286326"/>
                </a:lnTo>
                <a:lnTo>
                  <a:pt x="0" y="6286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383526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pprent</a:t>
            </a:r>
            <a:r>
              <a:rPr lang="en-US" b="true" sz="7200" spc="-144" u="none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issage supervisé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94209" y="2933959"/>
            <a:ext cx="11301259" cy="6187439"/>
          </a:xfrm>
          <a:custGeom>
            <a:avLst/>
            <a:gdLst/>
            <a:ahLst/>
            <a:cxnLst/>
            <a:rect r="r" b="b" t="t" l="l"/>
            <a:pathLst>
              <a:path h="6187439" w="11301259">
                <a:moveTo>
                  <a:pt x="0" y="0"/>
                </a:moveTo>
                <a:lnTo>
                  <a:pt x="11301259" y="0"/>
                </a:lnTo>
                <a:lnTo>
                  <a:pt x="11301259" y="6187440"/>
                </a:lnTo>
                <a:lnTo>
                  <a:pt x="0" y="618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383526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Tâche de c</a:t>
            </a:r>
            <a:r>
              <a:rPr lang="en-US" b="true" sz="7200" spc="-144" u="none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lassification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17274" y="3028481"/>
            <a:ext cx="11301259" cy="6229819"/>
          </a:xfrm>
          <a:custGeom>
            <a:avLst/>
            <a:gdLst/>
            <a:ahLst/>
            <a:cxnLst/>
            <a:rect r="r" b="b" t="t" l="l"/>
            <a:pathLst>
              <a:path h="6229819" w="11301259">
                <a:moveTo>
                  <a:pt x="0" y="0"/>
                </a:moveTo>
                <a:lnTo>
                  <a:pt x="11301259" y="0"/>
                </a:lnTo>
                <a:lnTo>
                  <a:pt x="11301259" y="6229819"/>
                </a:lnTo>
                <a:lnTo>
                  <a:pt x="0" y="6229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383526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Tâche de </a:t>
            </a: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Regre</a:t>
            </a:r>
            <a:r>
              <a:rPr lang="en-US" b="true" sz="7200" spc="-144" u="none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ssion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81385" y="1894486"/>
            <a:ext cx="12146498" cy="7363814"/>
          </a:xfrm>
          <a:custGeom>
            <a:avLst/>
            <a:gdLst/>
            <a:ahLst/>
            <a:cxnLst/>
            <a:rect r="r" b="b" t="t" l="l"/>
            <a:pathLst>
              <a:path h="7363814" w="12146498">
                <a:moveTo>
                  <a:pt x="0" y="0"/>
                </a:moveTo>
                <a:lnTo>
                  <a:pt x="12146497" y="0"/>
                </a:lnTo>
                <a:lnTo>
                  <a:pt x="12146497" y="7363814"/>
                </a:lnTo>
                <a:lnTo>
                  <a:pt x="0" y="7363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2699" y="1158924"/>
            <a:ext cx="15742809" cy="49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2"/>
              </a:lnSpc>
            </a:pPr>
            <a:r>
              <a:rPr lang="en-US" sz="246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L'ajusteme</a:t>
            </a:r>
            <a:r>
              <a:rPr lang="en-US" sz="246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nt</a:t>
            </a:r>
            <a:r>
              <a:rPr lang="en-US" sz="24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 des données est facile, mai</a:t>
            </a:r>
            <a:r>
              <a:rPr lang="en-US" sz="246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s les</a:t>
            </a:r>
            <a:r>
              <a:rPr lang="en-US" sz="24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4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préd</a:t>
            </a:r>
            <a:r>
              <a:rPr lang="en-US" sz="24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4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ct</a:t>
            </a:r>
            <a:r>
              <a:rPr lang="en-US" sz="24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4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on</a:t>
            </a:r>
            <a:r>
              <a:rPr lang="en-US" sz="2461" u="none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s sont difficiles.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33709" y="2374726"/>
            <a:ext cx="8709868" cy="548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32" indent="-395216" lvl="1">
              <a:lnSpc>
                <a:spcPts val="8859"/>
              </a:lnSpc>
              <a:buAutoNum type="arabicPeriod" startAt="1"/>
            </a:pP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Collecte des données</a:t>
            </a:r>
          </a:p>
          <a:p>
            <a:pPr algn="l" marL="790432" indent="-395216" lvl="1">
              <a:lnSpc>
                <a:spcPts val="8859"/>
              </a:lnSpc>
              <a:buAutoNum type="arabicPeriod" startAt="1"/>
            </a:pP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Étiquetage des exemples</a:t>
            </a:r>
          </a:p>
          <a:p>
            <a:pPr algn="l" marL="790432" indent="-395216" lvl="1">
              <a:lnSpc>
                <a:spcPts val="8859"/>
              </a:lnSpc>
              <a:buAutoNum type="arabicPeriod" startAt="1"/>
            </a:pP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Choix de la représentation</a:t>
            </a:r>
          </a:p>
          <a:p>
            <a:pPr algn="l" marL="790432" indent="-395216" lvl="1">
              <a:lnSpc>
                <a:spcPts val="8859"/>
              </a:lnSpc>
              <a:buAutoNum type="arabicPeriod" startAt="1"/>
            </a:pP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Entraînement du ou des modèles</a:t>
            </a:r>
          </a:p>
          <a:p>
            <a:pPr algn="l" marL="790432" indent="-395216" lvl="1">
              <a:lnSpc>
                <a:spcPts val="8859"/>
              </a:lnSpc>
              <a:buAutoNum type="arabicPeriod" startAt="1"/>
            </a:pP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Évaluation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52125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 spc="-132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6600" spc="-132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pprentissage superv</a:t>
            </a:r>
            <a:r>
              <a:rPr lang="en-US" b="true" sz="6600" spc="-132" u="none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isé Workflow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143500"/>
            <a:ext cx="10070806" cy="4481509"/>
          </a:xfrm>
          <a:custGeom>
            <a:avLst/>
            <a:gdLst/>
            <a:ahLst/>
            <a:cxnLst/>
            <a:rect r="r" b="b" t="t" l="l"/>
            <a:pathLst>
              <a:path h="4481509" w="10070806">
                <a:moveTo>
                  <a:pt x="0" y="0"/>
                </a:moveTo>
                <a:lnTo>
                  <a:pt x="10070806" y="0"/>
                </a:lnTo>
                <a:lnTo>
                  <a:pt x="10070806" y="4481509"/>
                </a:lnTo>
                <a:lnTo>
                  <a:pt x="0" y="44815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72596" y="2240135"/>
            <a:ext cx="15742809" cy="202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32" indent="-395216" lvl="1">
              <a:lnSpc>
                <a:spcPts val="5455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Comment sélectionnez-v</a:t>
            </a: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ous votre échantillon ?</a:t>
            </a:r>
          </a:p>
          <a:p>
            <a:pPr algn="l" marL="790432" indent="-395216" lvl="1">
              <a:lnSpc>
                <a:spcPts val="5455"/>
              </a:lnSpc>
              <a:buFont typeface="Arial"/>
              <a:buChar char="•"/>
            </a:pP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</a:t>
            </a: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iabilité des</a:t>
            </a: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mesu</a:t>
            </a: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</a:t>
            </a:r>
          </a:p>
          <a:p>
            <a:pPr algn="l" marL="790432" indent="-395216" lvl="1">
              <a:lnSpc>
                <a:spcPts val="5455"/>
              </a:lnSpc>
              <a:buFont typeface="Arial"/>
              <a:buChar char="•"/>
            </a:pP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Confidentialité et autres réglementations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1521254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Collection  des données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87636" y="4381772"/>
            <a:ext cx="6611960" cy="65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3661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Open Access Reposit</a:t>
            </a:r>
            <a:r>
              <a:rPr lang="en-US" sz="3661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ories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80401" y="3093382"/>
            <a:ext cx="5643087" cy="5630546"/>
          </a:xfrm>
          <a:custGeom>
            <a:avLst/>
            <a:gdLst/>
            <a:ahLst/>
            <a:cxnLst/>
            <a:rect r="r" b="b" t="t" l="l"/>
            <a:pathLst>
              <a:path h="5630546" w="5643087">
                <a:moveTo>
                  <a:pt x="0" y="0"/>
                </a:moveTo>
                <a:lnTo>
                  <a:pt x="5643086" y="0"/>
                </a:lnTo>
                <a:lnTo>
                  <a:pt x="5643086" y="5630546"/>
                </a:lnTo>
                <a:lnTo>
                  <a:pt x="0" y="563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31474" y="3080837"/>
            <a:ext cx="9638573" cy="279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895" indent="-330448" lvl="1">
              <a:lnSpc>
                <a:spcPts val="7652"/>
              </a:lnSpc>
              <a:buFont typeface="Arial"/>
              <a:buChar char="•"/>
            </a:pPr>
            <a:r>
              <a:rPr lang="en-US" sz="30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Consignes d'annotation</a:t>
            </a:r>
          </a:p>
          <a:p>
            <a:pPr algn="l" marL="660895" indent="-330448" lvl="1">
              <a:lnSpc>
                <a:spcPts val="7652"/>
              </a:lnSpc>
              <a:buFont typeface="Arial"/>
              <a:buChar char="•"/>
            </a:pPr>
            <a:r>
              <a:rPr lang="en-US" sz="30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Mesurer le cons</a:t>
            </a:r>
            <a:r>
              <a:rPr lang="en-US" sz="30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ensus ent</a:t>
            </a:r>
            <a:r>
              <a:rPr lang="en-US" sz="30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 les annotat</a:t>
            </a:r>
            <a:r>
              <a:rPr lang="en-US" sz="30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eurs</a:t>
            </a:r>
          </a:p>
          <a:p>
            <a:pPr algn="l" marL="660895" indent="-330448" lvl="1">
              <a:lnSpc>
                <a:spcPts val="7652"/>
              </a:lnSpc>
              <a:buFont typeface="Arial"/>
              <a:buChar char="•"/>
            </a:pPr>
            <a:r>
              <a:rPr lang="en-US" sz="30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Externalisation participative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1521254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Label examples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7364" y="2545290"/>
            <a:ext cx="15353885" cy="101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32" indent="-395216" lvl="1">
              <a:lnSpc>
                <a:spcPts val="9152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Features : attributs décrivant des exemples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521254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Representation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05415" y="3864892"/>
            <a:ext cx="15353885" cy="127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32" indent="-395216" lvl="1">
              <a:lnSpc>
                <a:spcPts val="5125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Numerical </a:t>
            </a:r>
          </a:p>
          <a:p>
            <a:pPr algn="l" marL="790432" indent="-395216" lvl="1">
              <a:lnSpc>
                <a:spcPts val="5125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Categorical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8032" y="5662421"/>
            <a:ext cx="15353885" cy="63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32" indent="-395216" lvl="1">
              <a:lnSpc>
                <a:spcPts val="5125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Conversion possible en vect</a:t>
            </a: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eur d</a:t>
            </a: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cara</a:t>
            </a: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ct</a:t>
            </a: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é</a:t>
            </a: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istiques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6905" y="6594035"/>
            <a:ext cx="15353885" cy="192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32" indent="-395216" lvl="1">
              <a:lnSpc>
                <a:spcPts val="5125"/>
              </a:lnSpc>
              <a:buFont typeface="Arial"/>
              <a:buChar char="•"/>
            </a:pP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 vecteur est une liste de nombres de taille fixe.</a:t>
            </a:r>
          </a:p>
          <a:p>
            <a:pPr algn="l" marL="790432" indent="-395216" lvl="1">
              <a:lnSpc>
                <a:spcPts val="5125"/>
              </a:lnSpc>
              <a:buFont typeface="Arial"/>
              <a:buChar char="•"/>
            </a:pPr>
            <a:r>
              <a:rPr lang="en-US" sz="366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Certains algorithmes d'apprentissage nécessitent des exemples représentés sous forme de vecteurs.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05526" y="5446805"/>
            <a:ext cx="8335722" cy="4438772"/>
          </a:xfrm>
          <a:custGeom>
            <a:avLst/>
            <a:gdLst/>
            <a:ahLst/>
            <a:cxnLst/>
            <a:rect r="r" b="b" t="t" l="l"/>
            <a:pathLst>
              <a:path h="4438772" w="8335722">
                <a:moveTo>
                  <a:pt x="0" y="0"/>
                </a:moveTo>
                <a:lnTo>
                  <a:pt x="8335722" y="0"/>
                </a:lnTo>
                <a:lnTo>
                  <a:pt x="8335722" y="4438772"/>
                </a:lnTo>
                <a:lnTo>
                  <a:pt x="0" y="4438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1302" y="2229005"/>
            <a:ext cx="15353885" cy="244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32" indent="-395216" lvl="1">
              <a:lnSpc>
                <a:spcPts val="6663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Conservez quelques exemples pour l'évaluation finale : Test Set</a:t>
            </a:r>
          </a:p>
          <a:p>
            <a:pPr algn="l" marL="790432" indent="-395216" lvl="1">
              <a:lnSpc>
                <a:spcPts val="6663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Utilisez le reste pour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1521254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4. Train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05415" y="4769401"/>
            <a:ext cx="15353885" cy="127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32" indent="-395216" lvl="1">
              <a:lnSpc>
                <a:spcPts val="5125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Learning: training set </a:t>
            </a:r>
          </a:p>
          <a:p>
            <a:pPr algn="l" marL="790432" indent="-395216" lvl="1">
              <a:lnSpc>
                <a:spcPts val="5125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Tuning: validation set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8305" y="2430666"/>
            <a:ext cx="16884195" cy="143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32" indent="-395216" lvl="1">
              <a:lnSpc>
                <a:spcPts val="5894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Les algorithmes d'apprentissage possèdent généralement des paramètres (</a:t>
            </a:r>
            <a:r>
              <a:rPr lang="en-US" b="true" sz="366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hyperparamètres</a:t>
            </a: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).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521254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Parameter or model Tuning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69078" y="5246657"/>
            <a:ext cx="15353885" cy="368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32" indent="-395216" lvl="1">
              <a:lnSpc>
                <a:spcPts val="7432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Application d'algorithme sur training set pour l'apprentissage.</a:t>
            </a:r>
          </a:p>
          <a:p>
            <a:pPr algn="l" marL="790432" indent="-395216" lvl="1">
              <a:lnSpc>
                <a:spcPts val="7432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Vérifirication des performances sur validation set.</a:t>
            </a:r>
          </a:p>
          <a:p>
            <a:pPr algn="l" marL="790432" indent="-395216" lvl="1">
              <a:lnSpc>
                <a:spcPts val="7432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Trouver/Choisir la configuration optimale.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8305" y="4128698"/>
            <a:ext cx="16884195" cy="101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32" indent="-395216" lvl="1">
              <a:lnSpc>
                <a:spcPts val="9152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Pour chaque valeur des hyperparamètres :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521254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Evaluation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3923" y="2887684"/>
            <a:ext cx="16884195" cy="4500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32" indent="-395216" lvl="1">
              <a:lnSpc>
                <a:spcPts val="9152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Vérifier les performances du modèle optimisé sur l'ensemble de test.</a:t>
            </a:r>
          </a:p>
          <a:p>
            <a:pPr algn="l" marL="790432" indent="-395216" lvl="1">
              <a:lnSpc>
                <a:spcPts val="9152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Objectif : estimer les performances du modèle en situation réelle.</a:t>
            </a:r>
          </a:p>
          <a:p>
            <a:pPr algn="l" marL="790432" indent="-395216" lvl="1">
              <a:lnSpc>
                <a:spcPts val="9152"/>
              </a:lnSpc>
              <a:buFont typeface="Arial"/>
              <a:buChar char="•"/>
            </a:pPr>
            <a:r>
              <a:rPr lang="en-US" sz="36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Veillez à ce que l'évaluation reste réaliste.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383526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Wha</a:t>
            </a:r>
            <a:r>
              <a:rPr lang="en-US" b="true" sz="7200" spc="-144" u="none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t is machine learning?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04490"/>
            <a:ext cx="16230600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 dit qu’u</a:t>
            </a:r>
            <a:r>
              <a:rPr lang="en-US" sz="24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 programme apprend de l’expérience (E) sur une tâche (T) et une mesure de performance (P), si sa performance aux tâches de T, telle que mesurée par P, s’améliore avec 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660202" y="4273656"/>
            <a:ext cx="11301259" cy="5255085"/>
            <a:chOff x="0" y="0"/>
            <a:chExt cx="15068345" cy="70067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68345" cy="7006781"/>
            </a:xfrm>
            <a:custGeom>
              <a:avLst/>
              <a:gdLst/>
              <a:ahLst/>
              <a:cxnLst/>
              <a:rect r="r" b="b" t="t" l="l"/>
              <a:pathLst>
                <a:path h="7006781" w="15068345">
                  <a:moveTo>
                    <a:pt x="0" y="0"/>
                  </a:moveTo>
                  <a:lnTo>
                    <a:pt x="15068345" y="0"/>
                  </a:lnTo>
                  <a:lnTo>
                    <a:pt x="15068345" y="7006781"/>
                  </a:lnTo>
                  <a:lnTo>
                    <a:pt x="0" y="7006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7811912" y="255334"/>
              <a:ext cx="6917192" cy="6390859"/>
              <a:chOff x="0" y="0"/>
              <a:chExt cx="585137" cy="54061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85137" cy="540614"/>
              </a:xfrm>
              <a:custGeom>
                <a:avLst/>
                <a:gdLst/>
                <a:ahLst/>
                <a:cxnLst/>
                <a:rect r="r" b="b" t="t" l="l"/>
                <a:pathLst>
                  <a:path h="540614" w="585137">
                    <a:moveTo>
                      <a:pt x="51298" y="0"/>
                    </a:moveTo>
                    <a:lnTo>
                      <a:pt x="533839" y="0"/>
                    </a:lnTo>
                    <a:cubicBezTo>
                      <a:pt x="562170" y="0"/>
                      <a:pt x="585137" y="22967"/>
                      <a:pt x="585137" y="51298"/>
                    </a:cubicBezTo>
                    <a:lnTo>
                      <a:pt x="585137" y="489316"/>
                    </a:lnTo>
                    <a:cubicBezTo>
                      <a:pt x="585137" y="517647"/>
                      <a:pt x="562170" y="540614"/>
                      <a:pt x="533839" y="540614"/>
                    </a:cubicBezTo>
                    <a:lnTo>
                      <a:pt x="51298" y="540614"/>
                    </a:lnTo>
                    <a:cubicBezTo>
                      <a:pt x="22967" y="540614"/>
                      <a:pt x="0" y="517647"/>
                      <a:pt x="0" y="489316"/>
                    </a:cubicBezTo>
                    <a:lnTo>
                      <a:pt x="0" y="51298"/>
                    </a:lnTo>
                    <a:cubicBezTo>
                      <a:pt x="0" y="22967"/>
                      <a:pt x="22967" y="0"/>
                      <a:pt x="51298" y="0"/>
                    </a:cubicBezTo>
                    <a:close/>
                  </a:path>
                </a:pathLst>
              </a:custGeom>
              <a:ln w="66675" cap="rnd">
                <a:solidFill>
                  <a:srgbClr val="FF3131"/>
                </a:solidFill>
                <a:prstDash val="lgDash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95275"/>
                <a:ext cx="585137" cy="8358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00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84213" y="255334"/>
              <a:ext cx="6917192" cy="6390859"/>
              <a:chOff x="0" y="0"/>
              <a:chExt cx="585137" cy="540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85137" cy="540614"/>
              </a:xfrm>
              <a:custGeom>
                <a:avLst/>
                <a:gdLst/>
                <a:ahLst/>
                <a:cxnLst/>
                <a:rect r="r" b="b" t="t" l="l"/>
                <a:pathLst>
                  <a:path h="540614" w="585137">
                    <a:moveTo>
                      <a:pt x="51298" y="0"/>
                    </a:moveTo>
                    <a:lnTo>
                      <a:pt x="533839" y="0"/>
                    </a:lnTo>
                    <a:cubicBezTo>
                      <a:pt x="562170" y="0"/>
                      <a:pt x="585137" y="22967"/>
                      <a:pt x="585137" y="51298"/>
                    </a:cubicBezTo>
                    <a:lnTo>
                      <a:pt x="585137" y="489316"/>
                    </a:lnTo>
                    <a:cubicBezTo>
                      <a:pt x="585137" y="517647"/>
                      <a:pt x="562170" y="540614"/>
                      <a:pt x="533839" y="540614"/>
                    </a:cubicBezTo>
                    <a:lnTo>
                      <a:pt x="51298" y="540614"/>
                    </a:lnTo>
                    <a:cubicBezTo>
                      <a:pt x="22967" y="540614"/>
                      <a:pt x="0" y="517647"/>
                      <a:pt x="0" y="489316"/>
                    </a:cubicBezTo>
                    <a:lnTo>
                      <a:pt x="0" y="51298"/>
                    </a:lnTo>
                    <a:cubicBezTo>
                      <a:pt x="0" y="22967"/>
                      <a:pt x="22967" y="0"/>
                      <a:pt x="51298" y="0"/>
                    </a:cubicBezTo>
                    <a:close/>
                  </a:path>
                </a:pathLst>
              </a:custGeom>
              <a:ln w="66675" cap="rnd">
                <a:solidFill>
                  <a:srgbClr val="FF3131"/>
                </a:solidFill>
                <a:prstDash val="lgDash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95275"/>
                <a:ext cx="585137" cy="8358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00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1930" y="2284694"/>
            <a:ext cx="13826089" cy="7327827"/>
          </a:xfrm>
          <a:custGeom>
            <a:avLst/>
            <a:gdLst/>
            <a:ahLst/>
            <a:cxnLst/>
            <a:rect r="r" b="b" t="t" l="l"/>
            <a:pathLst>
              <a:path h="7327827" w="13826089">
                <a:moveTo>
                  <a:pt x="0" y="0"/>
                </a:moveTo>
                <a:lnTo>
                  <a:pt x="13826089" y="0"/>
                </a:lnTo>
                <a:lnTo>
                  <a:pt x="13826089" y="7327827"/>
                </a:lnTo>
                <a:lnTo>
                  <a:pt x="0" y="7327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521254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Clustering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1000" y="2124075"/>
            <a:ext cx="10686596" cy="8001589"/>
          </a:xfrm>
          <a:custGeom>
            <a:avLst/>
            <a:gdLst/>
            <a:ahLst/>
            <a:cxnLst/>
            <a:rect r="r" b="b" t="t" l="l"/>
            <a:pathLst>
              <a:path h="8001589" w="10686596">
                <a:moveTo>
                  <a:pt x="0" y="0"/>
                </a:moveTo>
                <a:lnTo>
                  <a:pt x="10686596" y="0"/>
                </a:lnTo>
                <a:lnTo>
                  <a:pt x="10686596" y="8001589"/>
                </a:lnTo>
                <a:lnTo>
                  <a:pt x="0" y="8001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521254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Clustering et graph analysis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383526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Wha</a:t>
            </a:r>
            <a:r>
              <a:rPr lang="en-US" b="true" sz="7200" spc="-144" u="none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t is machine learning?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04490"/>
            <a:ext cx="16230600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 dit qu’u</a:t>
            </a:r>
            <a:r>
              <a:rPr lang="en-US" sz="24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 programme apprend de l’expérience (E) sur une tâche (T) et une mesure de performance (P), si sa performance aux tâches de T, telle que mesurée par P, s’améliore avec 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660202" y="4273656"/>
            <a:ext cx="11301259" cy="5255085"/>
            <a:chOff x="0" y="0"/>
            <a:chExt cx="15068345" cy="70067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68345" cy="7006781"/>
            </a:xfrm>
            <a:custGeom>
              <a:avLst/>
              <a:gdLst/>
              <a:ahLst/>
              <a:cxnLst/>
              <a:rect r="r" b="b" t="t" l="l"/>
              <a:pathLst>
                <a:path h="7006781" w="15068345">
                  <a:moveTo>
                    <a:pt x="0" y="0"/>
                  </a:moveTo>
                  <a:lnTo>
                    <a:pt x="15068345" y="0"/>
                  </a:lnTo>
                  <a:lnTo>
                    <a:pt x="15068345" y="7006781"/>
                  </a:lnTo>
                  <a:lnTo>
                    <a:pt x="0" y="7006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7811912" y="255334"/>
              <a:ext cx="6917192" cy="6390859"/>
              <a:chOff x="0" y="0"/>
              <a:chExt cx="585137" cy="54061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85137" cy="540614"/>
              </a:xfrm>
              <a:custGeom>
                <a:avLst/>
                <a:gdLst/>
                <a:ahLst/>
                <a:cxnLst/>
                <a:rect r="r" b="b" t="t" l="l"/>
                <a:pathLst>
                  <a:path h="540614" w="585137">
                    <a:moveTo>
                      <a:pt x="51298" y="0"/>
                    </a:moveTo>
                    <a:lnTo>
                      <a:pt x="533839" y="0"/>
                    </a:lnTo>
                    <a:cubicBezTo>
                      <a:pt x="562170" y="0"/>
                      <a:pt x="585137" y="22967"/>
                      <a:pt x="585137" y="51298"/>
                    </a:cubicBezTo>
                    <a:lnTo>
                      <a:pt x="585137" y="489316"/>
                    </a:lnTo>
                    <a:cubicBezTo>
                      <a:pt x="585137" y="517647"/>
                      <a:pt x="562170" y="540614"/>
                      <a:pt x="533839" y="540614"/>
                    </a:cubicBezTo>
                    <a:lnTo>
                      <a:pt x="51298" y="540614"/>
                    </a:lnTo>
                    <a:cubicBezTo>
                      <a:pt x="22967" y="540614"/>
                      <a:pt x="0" y="517647"/>
                      <a:pt x="0" y="489316"/>
                    </a:cubicBezTo>
                    <a:lnTo>
                      <a:pt x="0" y="51298"/>
                    </a:lnTo>
                    <a:cubicBezTo>
                      <a:pt x="0" y="22967"/>
                      <a:pt x="22967" y="0"/>
                      <a:pt x="51298" y="0"/>
                    </a:cubicBezTo>
                    <a:close/>
                  </a:path>
                </a:pathLst>
              </a:custGeom>
              <a:ln w="66675" cap="rnd">
                <a:solidFill>
                  <a:srgbClr val="FF3131"/>
                </a:solidFill>
                <a:prstDash val="lgDash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95275"/>
                <a:ext cx="585137" cy="8358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00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84213" y="255334"/>
              <a:ext cx="6917192" cy="6390859"/>
              <a:chOff x="0" y="0"/>
              <a:chExt cx="585137" cy="540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85137" cy="540614"/>
              </a:xfrm>
              <a:custGeom>
                <a:avLst/>
                <a:gdLst/>
                <a:ahLst/>
                <a:cxnLst/>
                <a:rect r="r" b="b" t="t" l="l"/>
                <a:pathLst>
                  <a:path h="540614" w="585137">
                    <a:moveTo>
                      <a:pt x="51298" y="0"/>
                    </a:moveTo>
                    <a:lnTo>
                      <a:pt x="533839" y="0"/>
                    </a:lnTo>
                    <a:cubicBezTo>
                      <a:pt x="562170" y="0"/>
                      <a:pt x="585137" y="22967"/>
                      <a:pt x="585137" y="51298"/>
                    </a:cubicBezTo>
                    <a:lnTo>
                      <a:pt x="585137" y="489316"/>
                    </a:lnTo>
                    <a:cubicBezTo>
                      <a:pt x="585137" y="517647"/>
                      <a:pt x="562170" y="540614"/>
                      <a:pt x="533839" y="540614"/>
                    </a:cubicBezTo>
                    <a:lnTo>
                      <a:pt x="51298" y="540614"/>
                    </a:lnTo>
                    <a:cubicBezTo>
                      <a:pt x="22967" y="540614"/>
                      <a:pt x="0" y="517647"/>
                      <a:pt x="0" y="489316"/>
                    </a:cubicBezTo>
                    <a:lnTo>
                      <a:pt x="0" y="51298"/>
                    </a:lnTo>
                    <a:cubicBezTo>
                      <a:pt x="0" y="22967"/>
                      <a:pt x="22967" y="0"/>
                      <a:pt x="51298" y="0"/>
                    </a:cubicBezTo>
                    <a:close/>
                  </a:path>
                </a:pathLst>
              </a:custGeom>
              <a:ln w="66675" cap="rnd">
                <a:solidFill>
                  <a:srgbClr val="FF3131"/>
                </a:solidFill>
                <a:prstDash val="lgDash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95275"/>
                <a:ext cx="585137" cy="8358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00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8169" y="3177734"/>
            <a:ext cx="11513611" cy="6764246"/>
          </a:xfrm>
          <a:custGeom>
            <a:avLst/>
            <a:gdLst/>
            <a:ahLst/>
            <a:cxnLst/>
            <a:rect r="r" b="b" t="t" l="l"/>
            <a:pathLst>
              <a:path h="6764246" w="11513611">
                <a:moveTo>
                  <a:pt x="0" y="0"/>
                </a:moveTo>
                <a:lnTo>
                  <a:pt x="11513611" y="0"/>
                </a:lnTo>
                <a:lnTo>
                  <a:pt x="11513611" y="6764247"/>
                </a:lnTo>
                <a:lnTo>
                  <a:pt x="0" y="676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41662"/>
            <a:ext cx="15212548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900" spc="-98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Réduction de d</a:t>
            </a:r>
            <a:r>
              <a:rPr lang="en-US" b="true" sz="4900" spc="-98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imensionnalité : analyse en composantes principales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50583"/>
            <a:ext cx="1521254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>
                <a:solidFill>
                  <a:srgbClr val="49139C"/>
                </a:solidFill>
                <a:latin typeface="Garet Bold"/>
                <a:ea typeface="Garet Bold"/>
                <a:cs typeface="Garet Bold"/>
                <a:sym typeface="Garet Bold"/>
              </a:rPr>
              <a:t>Dimensionality reduction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763711"/>
            <a:ext cx="16230600" cy="80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99"/>
              </a:lnSpc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Fe</a:t>
            </a:r>
            <a:r>
              <a:rPr lang="en-US" b="true" sz="2999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ature selection</a:t>
            </a:r>
            <a:r>
              <a:rPr lang="en-US" sz="29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réduire la grande quantité de données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21169" y="2807811"/>
            <a:ext cx="16230600" cy="253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512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Réd</a:t>
            </a:r>
            <a:r>
              <a:rPr lang="en-US" sz="29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uction de la complexité et simplification de l'interprétation</a:t>
            </a:r>
          </a:p>
          <a:p>
            <a:pPr algn="l" marL="647697" indent="-323848" lvl="1">
              <a:lnSpc>
                <a:spcPts val="5129"/>
              </a:lnSpc>
              <a:buFont typeface="Arial"/>
              <a:buChar char="•"/>
            </a:pPr>
            <a:r>
              <a:rPr lang="en-US" sz="29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Réduction des besoins en ressources (calcul/mémoire)</a:t>
            </a:r>
          </a:p>
          <a:p>
            <a:pPr algn="l" marL="647697" indent="-323848" lvl="1">
              <a:lnSpc>
                <a:spcPts val="5129"/>
              </a:lnSpc>
              <a:buFont typeface="Arial"/>
              <a:buChar char="•"/>
            </a:pPr>
            <a:r>
              <a:rPr lang="en-US" sz="29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Atténuation du problème de la dimensionnalité</a:t>
            </a:r>
          </a:p>
          <a:p>
            <a:pPr algn="l" marL="647697" indent="-323848" lvl="1">
              <a:lnSpc>
                <a:spcPts val="5129"/>
              </a:lnSpc>
              <a:buFont typeface="Arial"/>
              <a:buChar char="•"/>
            </a:pPr>
            <a:r>
              <a:rPr lang="en-US" sz="29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Réduction du risque de surapprentissage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362575"/>
            <a:ext cx="16230600" cy="80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99"/>
              </a:lnSpc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Fe</a:t>
            </a:r>
            <a:r>
              <a:rPr lang="en-US" b="true" sz="2999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ature extraction</a:t>
            </a:r>
            <a:r>
              <a:rPr lang="en-US" sz="29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souvent spécifique au domaine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1169" y="6410327"/>
            <a:ext cx="16230600" cy="253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512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Trait</a:t>
            </a:r>
            <a:r>
              <a:rPr lang="en-US" sz="29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ement d'images : détection des contours</a:t>
            </a:r>
          </a:p>
          <a:p>
            <a:pPr algn="l" marL="647697" indent="-323848" lvl="1">
              <a:lnSpc>
                <a:spcPts val="5129"/>
              </a:lnSpc>
              <a:buFont typeface="Arial"/>
              <a:buChar char="•"/>
            </a:pPr>
            <a:r>
              <a:rPr lang="en-US" sz="29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 pixels à un ensemble réduit de caractéristiques</a:t>
            </a:r>
          </a:p>
          <a:p>
            <a:pPr algn="l" marL="647697" indent="-323848" lvl="1">
              <a:lnSpc>
                <a:spcPts val="5129"/>
              </a:lnSpc>
              <a:buFont typeface="Arial"/>
              <a:buChar char="•"/>
            </a:pPr>
            <a:r>
              <a:rPr lang="en-US" sz="29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Souvent intégrée au prétraitement, cette étape peut toutefois receler des problèmes complexes.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0468" y="4905485"/>
            <a:ext cx="7017425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pc="-144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Thank you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82270" y="6319526"/>
            <a:ext cx="4465242" cy="44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3199" spc="-31">
                <a:solidFill>
                  <a:srgbClr val="A6A6A6"/>
                </a:solidFill>
                <a:latin typeface="Garet"/>
                <a:ea typeface="Garet"/>
                <a:cs typeface="Garet"/>
                <a:sym typeface="Garet"/>
              </a:rPr>
              <a:t>Onesime Mb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DAXD0pKvLmI</dc:identifier>
  <dcterms:modified xsi:type="dcterms:W3CDTF">2011-08-01T06:04:30Z</dcterms:modified>
  <cp:revision>1</cp:revision>
  <dc:title>1. Formation en Machine Learning niveau intermédiaire Introduction </dc:title>
</cp:coreProperties>
</file>